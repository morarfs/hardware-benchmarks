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8f68f72a2e407c" /><Relationship Type="http://schemas.openxmlformats.org/officeDocument/2006/relationships/extended-properties" Target="/docProps/app.xml" Id="R8fbf8af33b70408f" /><Relationship Type="http://schemas.openxmlformats.org/officeDocument/2006/relationships/officeDocument" Target="/ppt/presentation.xml" Id="R9ce437a2585f4f8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c6242192175446e"/>
  </p:sldMasterIdLst>
  <p:notesMasterIdLst>
    <p:notesMasterId xmlns:r="http://schemas.openxmlformats.org/officeDocument/2006/relationships" r:id="Rc5c02393c3eb4b03"/>
  </p:notesMasterIdLst>
  <p:sldIdLst>
    <p:sldId xmlns:r="http://schemas.openxmlformats.org/officeDocument/2006/relationships" id="256" r:id="R6eb32e8a3d1f4e19"/>
    <p:sldId xmlns:r="http://schemas.openxmlformats.org/officeDocument/2006/relationships" id="257" r:id="R2bf8f805e262441b"/>
    <p:sldId xmlns:r="http://schemas.openxmlformats.org/officeDocument/2006/relationships" id="258" r:id="Rf5d9a1d4f280432c"/>
    <p:sldId xmlns:r="http://schemas.openxmlformats.org/officeDocument/2006/relationships" id="259" r:id="Rf2b3c087fa3749ec"/>
    <p:sldId xmlns:r="http://schemas.openxmlformats.org/officeDocument/2006/relationships" id="260" r:id="Rc1bb9b76e2924b05"/>
    <p:sldId xmlns:r="http://schemas.openxmlformats.org/officeDocument/2006/relationships" id="261" r:id="Rf2c1374a9ad345ba"/>
  </p:sldIdLst>
  <p:sldSz cx="12192000" cy="6858000"/>
  <p:notesSz cx="6858000" cy="9144000"/>
  <p:embeddedFontLst>
    <p:embeddedFont>
      <p:font typeface="OpenAI Sans"/>
      <p:regular xmlns:r="http://schemas.openxmlformats.org/officeDocument/2006/relationships" r:id="R0983aa6e526c4a07"/>
      <p:bold xmlns:r="http://schemas.openxmlformats.org/officeDocument/2006/relationships" r:id="Rbbc7c1596215445f"/>
      <p:italic xmlns:r="http://schemas.openxmlformats.org/officeDocument/2006/relationships" r:id="R93988ea45dab42f7"/>
      <p:boldItalic xmlns:r="http://schemas.openxmlformats.org/officeDocument/2006/relationships" r:id="Re1c2341ec9c248b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f9aaf959b494d15" /><Relationship Type="http://schemas.openxmlformats.org/officeDocument/2006/relationships/slideMaster" Target="/ppt/slideMasters/slideMaster1.xml" Id="R2c6242192175446e" /><Relationship Type="http://schemas.openxmlformats.org/officeDocument/2006/relationships/notesMaster" Target="/ppt/notesMasters/notesMaster1.xml" Id="Rc5c02393c3eb4b03" /><Relationship Type="http://schemas.openxmlformats.org/officeDocument/2006/relationships/presProps" Target="/ppt/presProps.xml" Id="R0f357a92746c4916" /><Relationship Type="http://schemas.openxmlformats.org/officeDocument/2006/relationships/viewProps" Target="/ppt/viewProps.xml" Id="Rad8e6a32907243e6" /><Relationship Type="http://schemas.openxmlformats.org/officeDocument/2006/relationships/tableStyles" Target="/ppt/tableStyles.xml" Id="R8c98f1925df547fa" /><Relationship Type="http://schemas.openxmlformats.org/officeDocument/2006/relationships/font" Target="/ppt/fonts/font.dat" Id="R0983aa6e526c4a07" /><Relationship Type="http://schemas.openxmlformats.org/officeDocument/2006/relationships/font" Target="/ppt/fonts/font2.dat" Id="Rbbc7c1596215445f" /><Relationship Type="http://schemas.openxmlformats.org/officeDocument/2006/relationships/font" Target="/ppt/fonts/font3.dat" Id="R93988ea45dab42f7" /><Relationship Type="http://schemas.openxmlformats.org/officeDocument/2006/relationships/font" Target="/ppt/fonts/font4.dat" Id="Re1c2341ec9c248be" /><Relationship Type="http://schemas.openxmlformats.org/officeDocument/2006/relationships/slide" Target="/ppt/slides/slide1.xml" Id="R6eb32e8a3d1f4e19" /><Relationship Type="http://schemas.openxmlformats.org/officeDocument/2006/relationships/slide" Target="/ppt/slides/slide2.xml" Id="R2bf8f805e262441b" /><Relationship Type="http://schemas.openxmlformats.org/officeDocument/2006/relationships/slide" Target="/ppt/slides/slide3.xml" Id="Rf5d9a1d4f280432c" /><Relationship Type="http://schemas.openxmlformats.org/officeDocument/2006/relationships/slide" Target="/ppt/slides/slide4.xml" Id="Rf2b3c087fa3749ec" /><Relationship Type="http://schemas.openxmlformats.org/officeDocument/2006/relationships/slide" Target="/ppt/slides/slide5.xml" Id="Rc1bb9b76e2924b05" /><Relationship Type="http://schemas.openxmlformats.org/officeDocument/2006/relationships/slide" Target="/ppt/slides/slide6.xml" Id="Rf2c1374a9ad345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8d2bd2ec7145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e17181be5f4bd7" /><Relationship Type="http://schemas.openxmlformats.org/officeDocument/2006/relationships/notesMaster" Target="/ppt/notesMasters/notesMaster1.xml" Id="Rdd5fb585ad5d4f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b322eeb7a848f1" /><Relationship Type="http://schemas.openxmlformats.org/officeDocument/2006/relationships/notesMaster" Target="/ppt/notesMasters/notesMaster1.xml" Id="R6b10548872e843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e001aee0274f58" /><Relationship Type="http://schemas.openxmlformats.org/officeDocument/2006/relationships/notesMaster" Target="/ppt/notesMasters/notesMaster1.xml" Id="Rdb7b67a2718f4a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447cdef46741af" /><Relationship Type="http://schemas.openxmlformats.org/officeDocument/2006/relationships/notesMaster" Target="/ppt/notesMasters/notesMaster1.xml" Id="R641a8bdeb53845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6f8a8882343fa" /><Relationship Type="http://schemas.openxmlformats.org/officeDocument/2006/relationships/notesMaster" Target="/ppt/notesMasters/notesMaster1.xml" Id="Ra60af33d1af64e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0c1ad3ab9a43a9" /><Relationship Type="http://schemas.openxmlformats.org/officeDocument/2006/relationships/notesMaster" Target="/ppt/notesMasters/notesMaster1.xml" Id="Re3270862ab7344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slides including the cover. Results describe observed configurations and a small source-bound pilot, not a general model ranking. The selected Simple Light Mode template is retained through duplicated native slides.</a:t>
            </a:r>
            <a:endParaRPr/>
          </a:p>
          <a:p xmlns:a="http://schemas.openxmlformats.org/drawingml/2006/main">
            <a:r>
              <a:t/>
            </a:r>
            <a:endParaRPr/>
          </a:p>
          <a:p xmlns:a="http://schemas.openxmlformats.org/drawingml/2006/main">
            <a:r>
              <a:t>Sources:</a:t>
            </a:r>
            <a:endParaRPr/>
          </a:p>
          <a:p xmlns:a="http://schemas.openxmlformats.org/drawingml/2006/main">
            <a:r>
              <a:t>https://github.com/MorarFS/hardware-benchmarks/blob/5a99a555753f61f51a50c2089a06831a8b675349/README.md</a:t>
            </a:r>
            <a:endParaRPr/>
          </a:p>
          <a:p xmlns:a="http://schemas.openxmlformats.org/drawingml/2006/main">
            <a:r>
              <a:t>https://github.com/MorarFS/hardware-benchmarks/blob/5a99a555753f61f51a50c2089a06831a8b675349/MODERN-MODELS.md</a:t>
            </a:r>
            <a:endParaRPr/>
          </a:p>
          <a:p xmlns:a="http://schemas.openxmlformats.org/drawingml/2006/main">
            <a:r>
              <a:t>https://github.com/MorarFS/hardware-benchmarks/blob/5a99a555753f61f51a50c2089a06831a8b675349/results/2026-09-08/evo/README.md</a:t>
            </a:r>
            <a:endParaRPr/>
          </a:p>
          <a:p xmlns:a="http://schemas.openxmlformats.org/drawingml/2006/main">
            <a:r>
              <a:t>https://github.com/MorarFS/hardware-benchmarks/blob/5a99a555753f61f51a50c2089a06831a8b675349/results/2026-09-08/history-v2/README.md</a:t>
            </a:r>
            <a:endParaRPr/>
          </a:p>
          <a:p xmlns:a="http://schemas.openxmlformats.org/drawingml/2006/main">
            <a:r>
              <a:t>https://github.com/MorarFS/hardware-benchmarks/blob/5a99a555753f61f51a50c2089a06831a8b675349/results/2026-09-08/arc-history-v2/README.md</a:t>
            </a:r>
            <a:endParaRPr/>
          </a:p>
          <a:p xmlns:a="http://schemas.openxmlformats.org/drawingml/2006/main">
            <a:r>
              <a:t>https://github.com/MorarFS/hardware-benchmarks/blob/5a99a555753f61f51a50c2089a06831a8b675349/results/2026-09-08/power-profiles/README.md</a:t>
            </a:r>
            <a:endParaRPr/>
          </a:p>
          <a:p xmlns:a="http://schemas.openxmlformats.org/drawingml/2006/main">
            <a:r>
              <a:t>https://github.com/MorarFS/hardware-benchmarks/blob/5a99a555753f61f51a50c2089a06831a8b675349/MAC-HANDOFF.md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 not add the Evo GPU reservation and CPU-visible RAM as independent physical memory pools. The Evo has approximately 30.47 GiB CPU-visible memory after the 96 GiB GPU reservation. Different memory architectures and software stacks prevent a simple memory-for-memory comparison. The Windows machine used AC power. The detected dock is not proof of negotiated bandwidth.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https://github.com/MorarFS/hardware-benchmarks/blob/5a99a555753f61f51a50c2089a06831a8b675349/README.md</a:t>
            </a:r>
            <a:endParaRPr/>
          </a:p>
          <a:p xmlns:a="http://schemas.openxmlformats.org/drawingml/2006/main">
            <a:pPr marL="0" lvl="0" indent="0" algn="l">
              <a:spcBef>
                <a:spcPts val="0"/>
              </a:spcBef>
              <a:spcAft>
                <a:spcPts val="0"/>
              </a:spcAft>
              <a:buNone/>
            </a:pPr>
            <a:r>
              <a:t>https://github.com/MorarFS/hardware-benchmarks/blob/5a99a555753f61f51a50c2089a06831a8b675349/MODERN-MODELS.md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https://github.com/MorarFS/hardware-benchmarks/blob/5a99a555753f61f51a50c2089a06831a8b675349/results/2026-09-08/evo/README.md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https://github.com/MorarFS/hardware-benchmarks/blob/5a99a555753f61f51a50c2089a06831a8b675349/results/2026-09-08/arc-history-v2/README.md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https://github.com/MorarFS/hardware-benchmarks/blob/5a99a555753f61f51a50c2089a06831a8b675349/results/2026-09-08/power-profiles/README.md</a:t>
            </a:r>
            <a:endParaRPr/>
          </a:p>
          <a:p xmlns:a="http://schemas.openxmlformats.org/drawingml/2006/main">
            <a:pPr marL="0" lvl="0" indent="0" algn="l">
              <a:spcBef>
                <a:spcPts val="0"/>
              </a:spcBef>
              <a:spcAft>
                <a:spcPts val="0"/>
              </a:spcAft>
              <a:buNone/>
            </a:pPr>
            <a:r>
              <a:t>https://github.com/MorarFS/hardware-benchmarks/blob/5a99a555753f61f51a50c2089a06831a8b675349/MAC-HANDOFF.md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Rates are mean tg256 at depth2048, not prose accuracy or end-to-end throughput. Qwen8 identical official GGUF is the closest hardware comparison; operating systems/backends still differ. Evo Qwen35 here is the UD artifact used in the audit. A separate installed community Qwen35 reached 69.43 tokens/s, so 59.60 is not the fastest installed Evo result. Internal RTX5060 Qwen8 was 62.01 tokens/s. These additional configurations are not silently substituted. The optional Arc Nemotron49B capacity test is outside this table. Evo original baseline was balanced.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https://github.com/MorarFS/hardware-benchmarks/blob/5a99a555753f61f51a50c2089a06831a8b675349/README.md</a:t>
            </a:r>
            <a:endParaRPr/>
          </a:p>
          <a:p xmlns:a="http://schemas.openxmlformats.org/drawingml/2006/main">
            <a:pPr marL="0" lvl="0" indent="0" algn="l">
              <a:spcBef>
                <a:spcPts val="0"/>
              </a:spcBef>
              <a:spcAft>
                <a:spcPts val="0"/>
              </a:spcAft>
              <a:buNone/>
            </a:pPr>
            <a:r>
              <a:t>https://github.com/MorarFS/hardware-benchmarks/blob/5a99a555753f61f51a50c2089a06831a8b675349/MODERN-MODELS.md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https://github.com/MorarFS/hardware-benchmarks/blob/5a99a555753f61f51a50c2089a06831a8b675349/results/2026-09-08/evo/README.md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https://github.com/MorarFS/hardware-benchmarks/blob/5a99a555753f61f51a50c2089a06831a8b675349/results/2026-09-08/arc-history-v2/README.md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https://github.com/MorarFS/hardware-benchmarks/blob/5a99a555753f61f51a50c2089a06831a8b675349/results/2026-09-08/power-profiles/README.md</a:t>
            </a:r>
            <a:endParaRPr/>
          </a:p>
          <a:p xmlns:a="http://schemas.openxmlformats.org/drawingml/2006/main">
            <a:pPr marL="0" lvl="0" indent="0" algn="l">
              <a:spcBef>
                <a:spcPts val="0"/>
              </a:spcBef>
              <a:spcAft>
                <a:spcPts val="0"/>
              </a:spcAft>
              <a:buNone/>
            </a:pPr>
            <a:r>
              <a:t>https://github.com/MorarFS/hardware-benchmarks/blob/5a99a555753f61f51a50c2089a06831a8b675349/MAC-HANDOFF.md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Evo native LM Studio SDK retokenized visible output. Its visible phase excludes initial waiting but includes final overhead. Arc completion-token counts divided by summed server prediction time include any control tokens in that counter and exclude prompt processing. Evo GPT used template-medium reasoning, generated 9,124 reasoning tokens, and had unsupported native top-k and reasoning fields omitted after preflight. Qwen35 MTP was on for Evo history and off for Arc. Gemma and Qwen artifacts differ across machines. Qwen35 Evo fastest merge output was an exact whitespace-normalized concatenation of direct summaries. Total wall times cover different outputs and lengths, so they are not an isolated hardware comparison. Only one battery per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https://github.com/MorarFS/hardware-benchmarks/blob/5a99a555753f61f51a50c2089a06831a8b675349/README.md</a:t>
            </a:r>
            <a:endParaRPr/>
          </a:p>
          <a:p xmlns:a="http://schemas.openxmlformats.org/drawingml/2006/main">
            <a:pPr marL="0" lvl="0" indent="0" algn="l">
              <a:spcBef>
                <a:spcPts val="0"/>
              </a:spcBef>
              <a:spcAft>
                <a:spcPts val="0"/>
              </a:spcAft>
              <a:buNone/>
            </a:pPr>
            <a:r>
              <a:t>https://github.com/MorarFS/hardware-benchmarks/blob/5a99a555753f61f51a50c2089a06831a8b675349/MODERN-MODELS.md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https://github.com/MorarFS/hardware-benchmarks/blob/5a99a555753f61f51a50c2089a06831a8b675349/results/2026-09-08/evo/README.md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https://github.com/MorarFS/hardware-benchmarks/blob/5a99a555753f61f51a50c2089a06831a8b675349/results/2026-09-08/arc-history-v2/README.md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https://github.com/MorarFS/hardware-benchmarks/blob/5a99a555753f61f51a50c2089a06831a8b675349/results/2026-09-08/power-profiles/README.md</a:t>
            </a:r>
            <a:endParaRPr/>
          </a:p>
          <a:p xmlns:a="http://schemas.openxmlformats.org/drawingml/2006/main">
            <a:pPr marL="0" lvl="0" indent="0" algn="l">
              <a:spcBef>
                <a:spcPts val="0"/>
              </a:spcBef>
              <a:spcAft>
                <a:spcPts val="0"/>
              </a:spcAft>
              <a:buNone/>
            </a:pPr>
            <a:r>
              <a:t>https://github.com/MorarFS/hardware-benchmarks/blob/5a99a555753f61f51a50c2089a06831a8b675349/MAC-HANDOFF.md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Small source-bound, Codex/AI-assisted audit, not independent human adjudication or a general accuracy ranking. Four answerable source passages from Charles Oman, The Byzantine Empire. Seventeen fixture hashes were frozen before held-out generation. Partial answers receive no arbitrary half-credit. Arc initial strict completeness counts were Qwen35 16, Gemma16, Qwen27 19. The secondary published crosswalk yields the table shown. ¹Arc Qwen35 repeats H1-Q4; content mapping identifies H1-Q5, while strict ID matching subtracts one supported answer. ²Arc Gemma gives a correct second component but falsely claims Romanus removal is absent; this category differs from Evo GPT declining the whole answer. No claim that Gemma is generally error-free: the original full-book audit found material errors. All six configurations have summary defects. Citation, quotation, coverage and word-limit audits remain separate.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https://github.com/MorarFS/hardware-benchmarks/blob/5a99a555753f61f51a50c2089a06831a8b675349/README.md</a:t>
            </a:r>
            <a:endParaRPr/>
          </a:p>
          <a:p xmlns:a="http://schemas.openxmlformats.org/drawingml/2006/main">
            <a:pPr marL="0" lvl="0" indent="0" algn="l">
              <a:spcBef>
                <a:spcPts val="0"/>
              </a:spcBef>
              <a:spcAft>
                <a:spcPts val="0"/>
              </a:spcAft>
              <a:buNone/>
            </a:pPr>
            <a:r>
              <a:t>https://github.com/MorarFS/hardware-benchmarks/blob/5a99a555753f61f51a50c2089a06831a8b675349/MODERN-MODELS.md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https://github.com/MorarFS/hardware-benchmarks/blob/5a99a555753f61f51a50c2089a06831a8b675349/results/2026-09-08/evo/README.md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https://github.com/MorarFS/hardware-benchmarks/blob/5a99a555753f61f51a50c2089a06831a8b675349/results/2026-09-08/arc-history-v2/README.md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https://github.com/MorarFS/hardware-benchmarks/blob/5a99a555753f61f51a50c2089a06831a8b675349/results/2026-09-08/power-profiles/README.md</a:t>
            </a:r>
            <a:endParaRPr/>
          </a:p>
          <a:p xmlns:a="http://schemas.openxmlformats.org/drawingml/2006/main">
            <a:pPr marL="0" lvl="0" indent="0" algn="l">
              <a:spcBef>
                <a:spcPts val="0"/>
              </a:spcBef>
              <a:spcAft>
                <a:spcPts val="0"/>
              </a:spcAft>
              <a:buNone/>
            </a:pPr>
            <a:r>
              <a:t>https://github.com/MorarFS/hardware-benchmarks/blob/5a99a555753f61f51a50c2089a06831a8b675349/MAC-HANDOFF.md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performance profile was explicitly requested after the reversible comparison and is saved in power-profiles-daemon state; daemon active and enabled. No reboot test was performed. Two-model paired profile comparison had small n, fixed order and no randomized crossover; it does not establish a causal thermal or performance effect. Qwen prose mean changed −1.19%, Gemma +0.63%. Speed alone cannot justify summary trust. Mac hardware is user-reported M5 Pro 48GB and should be verified by the running Mac task. Do not claim Mac results or that the Mac task has read the handoff. Handoff asks to avoid duplicate GPU runs and choose the largest practical historical-research capacity candidate with memory headroom.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https://github.com/MorarFS/hardware-benchmarks/blob/5a99a555753f61f51a50c2089a06831a8b675349/README.md</a:t>
            </a:r>
            <a:endParaRPr/>
          </a:p>
          <a:p xmlns:a="http://schemas.openxmlformats.org/drawingml/2006/main">
            <a:pPr marL="0" lvl="0" indent="0" algn="l">
              <a:spcBef>
                <a:spcPts val="0"/>
              </a:spcBef>
              <a:spcAft>
                <a:spcPts val="0"/>
              </a:spcAft>
              <a:buNone/>
            </a:pPr>
            <a:r>
              <a:t>https://github.com/MorarFS/hardware-benchmarks/blob/5a99a555753f61f51a50c2089a06831a8b675349/MODERN-MODELS.md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https://github.com/MorarFS/hardware-benchmarks/blob/5a99a555753f61f51a50c2089a06831a8b675349/results/2026-09-08/evo/README.md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https://github.com/MorarFS/hardware-benchmarks/blob/5a99a555753f61f51a50c2089a06831a8b675349/results/2026-09-08/arc-history-v2/README.md</a:t>
            </a:r>
            <a:endParaRPr/>
          </a:p>
          <a:p xmlns:a="http://schemas.openxmlformats.org/drawingml/2006/main">
            <a:pPr marL="0" lvl="0" indent="0" algn="l">
              <a:spcBef>
                <a:spcPts val="0"/>
              </a:spcBef>
              <a:spcAft>
                <a:spcPts val="0"/>
              </a:spcAft>
              <a:buNone/>
            </a:pPr>
            <a:r>
              <a:t>https://github.com/MorarFS/hardware-benchmarks/blob/5a99a555753f61f51a50c2089a06831a8b675349/results/2026-09-08/power-profiles/README.md</a:t>
            </a:r>
            <a:endParaRPr/>
          </a:p>
          <a:p xmlns:a="http://schemas.openxmlformats.org/drawingml/2006/main">
            <a:pPr marL="0" lvl="0" indent="0" algn="l">
              <a:spcBef>
                <a:spcPts val="0"/>
              </a:spcBef>
              <a:spcAft>
                <a:spcPts val="0"/>
              </a:spcAft>
              <a:buNone/>
            </a:pPr>
            <a:r>
              <a:t>https://github.com/MorarFS/hardware-benchmarks/blob/5a99a555753f61f51a50c2089a06831a8b675349/MAC-HANDOFF.md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aa6de99ccb45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bb3f6806a04c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53ffb0203a48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027dc58c5240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fde69968c946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650baa6c27413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960be2c84924e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62e06a762f24c8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7be171e4724367" /><Relationship Type="http://schemas.openxmlformats.org/officeDocument/2006/relationships/slideLayout" Target="/ppt/slideLayouts/slideLayout1.xml" Id="R4dcb0f5562044848" /><Relationship Type="http://schemas.openxmlformats.org/officeDocument/2006/relationships/slideLayout" Target="/ppt/slideLayouts/slideLayout2.xml" Id="R112467e6308b4e3b" /><Relationship Type="http://schemas.openxmlformats.org/officeDocument/2006/relationships/slideLayout" Target="/ppt/slideLayouts/slideLayout3.xml" Id="Rfbc08dc2782248f2" /><Relationship Type="http://schemas.openxmlformats.org/officeDocument/2006/relationships/slideLayout" Target="/ppt/slideLayouts/slideLayout4.xml" Id="R7dc90ae1c0c64ef7" /><Relationship Type="http://schemas.openxmlformats.org/officeDocument/2006/relationships/slideLayout" Target="/ppt/slideLayouts/slideLayout5.xml" Id="R543617aa86ea4fbc" /><Relationship Type="http://schemas.openxmlformats.org/officeDocument/2006/relationships/slideLayout" Target="/ppt/slideLayouts/slideLayout6.xml" Id="Re800108f311e4686" /><Relationship Type="http://schemas.openxmlformats.org/officeDocument/2006/relationships/slideLayout" Target="/ppt/slideLayouts/slideLayout7.xml" Id="Reb56a2b8f13a4cc1" /><Relationship Type="http://schemas.openxmlformats.org/officeDocument/2006/relationships/slideLayout" Target="/ppt/slideLayouts/slideLayout8.xml" Id="R72db96f8cc9e452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cb0f5562044848"/>
    <p:sldLayoutId xmlns:r="http://schemas.openxmlformats.org/officeDocument/2006/relationships" id="2147483650" r:id="R112467e6308b4e3b"/>
    <p:sldLayoutId xmlns:r="http://schemas.openxmlformats.org/officeDocument/2006/relationships" id="2147483651" r:id="Rfbc08dc2782248f2"/>
    <p:sldLayoutId xmlns:r="http://schemas.openxmlformats.org/officeDocument/2006/relationships" id="2147483652" r:id="R7dc90ae1c0c64ef7"/>
    <p:sldLayoutId xmlns:r="http://schemas.openxmlformats.org/officeDocument/2006/relationships" id="2147483653" r:id="R543617aa86ea4fbc"/>
    <p:sldLayoutId xmlns:r="http://schemas.openxmlformats.org/officeDocument/2006/relationships" id="2147483654" r:id="Re800108f311e4686"/>
    <p:sldLayoutId xmlns:r="http://schemas.openxmlformats.org/officeDocument/2006/relationships" id="2147483655" r:id="Reb56a2b8f13a4cc1"/>
    <p:sldLayoutId xmlns:r="http://schemas.openxmlformats.org/officeDocument/2006/relationships" id="2147483656" r:id="R72db96f8cc9e452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17065ad0204b54" /><Relationship Type="http://schemas.openxmlformats.org/officeDocument/2006/relationships/notesSlide" Target="/ppt/notesSlides/notesSlide1.xml" Id="Rca3ccd23fcd34f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1ec0928da44082" /><Relationship Type="http://schemas.openxmlformats.org/officeDocument/2006/relationships/notesSlide" Target="/ppt/notesSlides/notesSlide2.xml" Id="R06e9751fbe3e47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f5a8f960734205" /><Relationship Type="http://schemas.openxmlformats.org/officeDocument/2006/relationships/notesSlide" Target="/ppt/notesSlides/notesSlide3.xml" Id="R87c03aa493bf46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cefa16bc4c473e" /><Relationship Type="http://schemas.openxmlformats.org/officeDocument/2006/relationships/notesSlide" Target="/ppt/notesSlides/notesSlide4.xml" Id="R86a1ad26e8a149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f54a55cb1245ea" /><Relationship Type="http://schemas.openxmlformats.org/officeDocument/2006/relationships/notesSlide" Target="/ppt/notesSlides/notesSlide5.xml" Id="R0f34f39ca1024a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ae0a595e0d4f7d" /><Relationship Type="http://schemas.openxmlformats.org/officeDocument/2006/relationships/notesSlide" Target="/ppt/notesSlides/notesSlide6.xml" Id="R14454b91cbf94cc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Local AI for</a:t>
            </a:r>
          </a:p>
          <a:p xmlns:a="http://schemas.openxmlformats.org/drawingml/2006/main">
            <a:pPr algn="l">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historical research</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00">
                <a:solidFill>
                  <a:srgbClr val="000000"/>
                </a:solidFill>
                <a:latin typeface="Helvetica Neue"/>
                <a:ea typeface="Helvetica Neue"/>
                <a:cs typeface="Helvetica Neue"/>
              </a:defRPr>
            </a:pPr>
            <a:r>
              <a:rPr sz="2000">
                <a:solidFill>
                  <a:srgbClr val="000000"/>
                </a:solidFill>
                <a:latin typeface="Helvetica Neue"/>
                <a:ea typeface="Helvetica Neue"/>
                <a:cs typeface="Helvetica Neue"/>
              </a:rPr>
              <a:t>Speed, capacity and source fidelity</a:t>
            </a:r>
          </a:p>
          <a:p xmlns:a="http://schemas.openxmlformats.org/drawingml/2006/main">
            <a:pPr algn="l">
              <a:lnSpc>
                <a:spcPct val="100000"/>
              </a:lnSpc>
              <a:buNone/>
              <a:defRPr sz="2000">
                <a:solidFill>
                  <a:srgbClr val="000000"/>
                </a:solidFill>
                <a:latin typeface="Helvetica Neue"/>
                <a:ea typeface="Helvetica Neue"/>
                <a:cs typeface="Helvetica Neue"/>
              </a:defRPr>
            </a:pPr>
            <a:r>
              <a:rPr sz="2000">
                <a:solidFill>
                  <a:srgbClr val="000000"/>
                </a:solidFill>
                <a:latin typeface="Helvetica Neue"/>
                <a:ea typeface="Helvetica Neue"/>
                <a:cs typeface="Helvetica Neue"/>
              </a:rPr>
              <a:t>8 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l">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EVO X3  /  WINDOWS + INTEL ARC</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 September 2026  |  hardware-benchmarks</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fld id="{E2598689-54C9-18A7-3A19-ED76AA08988F}" type="slidenum">
              <a:rPr sz="1000">
                <a:solidFill>
                  <a:srgbClr val="000000"/>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Speed and model capacity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2400">
                <a:latin typeface="Helvetica Neue"/>
                <a:ea typeface="Helvetica Neue"/>
                <a:cs typeface="Helvetica Neue"/>
              </a:rPr>
              <a:t>Evo X3</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Ryzen AI MAX+ 395 · Radeon 8060S
Ubuntu 26.04 · Vulkan</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96 GiB reserved for the integrated GPU.
Shared memory architecture; not discrete VRAM.</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GPT-OSS 120B ran with 63.39 GB weights.</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Original baseline: balanced.
Current daily profile: performance.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2400">
                <a:latin typeface="Helvetica Neue"/>
                <a:ea typeface="Helvetica Neue"/>
                <a:cs typeface="Helvetica Neue"/>
              </a:rPr>
              <a:t>Windows laptop + external Arc</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Ryzen AI 9 365 · about 16 GB system RAM
Arc Pro B70 · 32 GB discrete VRAM · SYCL</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Intel Thunderbolt 5 / USB4 dock detected.
Negotiated link bandwidth was not measured.</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Internal RTX 5060 Laptop: 8 GB VRAM.</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GPT-OSS 120B was not tested on Arc.</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 September 2026  |  hardware-benchmarks</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fld id="{202359C0-8A7A-196E-DD58-8E6569619F09}" type="slidenum">
              <a:rPr sz="1000">
                <a:solidFill>
                  <a:srgbClr val="000000"/>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Arc is faster in the shared synthetic tests</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l">
              <a:lnSpc>
                <a:spcPct val="114000"/>
              </a:lnSpc>
              <a:spcBef>
                <a:spcPts val="0"/>
              </a:spcBef>
              <a:spcAft>
                <a:spcPts val="6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Generation at 2,048-token depth; 256 generated tokens; five repeats.</a:t>
            </a:r>
          </a:p>
          <a:p xmlns:a="http://schemas.openxmlformats.org/drawingml/2006/main">
            <a:pPr algn="l">
              <a:lnSpc>
                <a:spcPct val="114000"/>
              </a:lnSpc>
              <a:spcBef>
                <a:spcPts val="0"/>
              </a:spcBef>
              <a:spcAft>
                <a:spcPts val="6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llama-bench b10852, full GPU offload, F16 cache, flash attention. Reasoning and MTP off.</a:t>
            </a:r>
          </a:p>
        </p:txBody>
      </p:sp>
      <p:graphicFrame>
        <p:nvGraphicFramePr>
          <p:cNvPr id="539"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3143250"/>
                <a:gridCol w="1476375"/>
                <a:gridCol w="1476375"/>
                <a:gridCol w="5308568"/>
              </a:tblGrid>
              <a:tr h="655431">
                <a:tc>
                  <a:txBody>
                    <a:bodyPr wrap="square" lIns="0" tIns="0" rIns="0" bIns="0">
                      <a:noAutofit/>
                    </a:bodyPr>
                    <a:lstStyle/>
                    <a:p>
                      <a:pPr marL="0" lvl="0" indent="0" algn="l">
                        <a:lnSpc>
                          <a:spcPct val="110000"/>
                        </a:lnSpc>
                        <a:spcBef>
                          <a:spcPts val="0"/>
                        </a:spcBef>
                        <a:spcAft>
                          <a:spcPts val="700"/>
                        </a:spcAft>
                        <a:buNone/>
                      </a:pPr>
                      <a:r>
                        <a:rPr sz="1400" b="1">
                          <a:solidFill>
                            <a:srgbClr val="000000"/>
                          </a:solidFill>
                          <a:latin typeface="Helvetica Neue"/>
                          <a:ea typeface="Helvetica Neue"/>
                          <a:cs typeface="Helvetica Neue"/>
                        </a:rPr>
                        <a:t>Model / tested weight family</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Evo tokens/s</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1">
                          <a:solidFill>
                            <a:srgbClr val="000000"/>
                          </a:solidFill>
                          <a:latin typeface="Helvetica Neue"/>
                          <a:ea typeface="Helvetica Neue"/>
                          <a:cs typeface="Helvetica Neue"/>
                        </a:rPr>
                        <a:t>Arc tokens/s</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Comparability</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r>
              <a:tr h="655431">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Qwen3 8B · official Q4_K_M</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40.90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72.84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Strongest match: identical GGUF hash</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r>
              <a:tr h="655431">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Qwen3.6 35B-A3B · UD Q4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59.60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71.53</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Artifacts differ; MTP disabled here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655431">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Gemma 4 26B-A4B · Q4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47.37</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56.68</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Different quantizers</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655431">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Qwen3.8 27B · Q4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12.58</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20.42</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Different artifacts / quantization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655431">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GPT-OSS 120B · MXFP4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52.59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Not run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capacity result; no Arc comparison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 September 2026  |  hardware-benchmarks</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fld id="{EFD6AB9A-5F9E-5F59-51AB-3C8734130965}" type="slidenum">
              <a:rPr sz="1000">
                <a:solidFill>
                  <a:srgbClr val="000000"/>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History timings include different kinds of waiting</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l">
              <a:lnSpc>
                <a:spcPct val="114000"/>
              </a:lnSpc>
              <a:spcBef>
                <a:spcPts val="0"/>
              </a:spcBef>
              <a:spcAft>
                <a:spcPts val="6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Twelve requests each; loading excluded. Qwen / Gemma reasoning OFF; GPT-OSS template medium.</a:t>
            </a:r>
          </a:p>
          <a:p xmlns:a="http://schemas.openxmlformats.org/drawingml/2006/main">
            <a:pPr algn="l">
              <a:lnSpc>
                <a:spcPct val="114000"/>
              </a:lnSpc>
              <a:spcBef>
                <a:spcPts val="0"/>
              </a:spcBef>
              <a:spcAft>
                <a:spcPts val="6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Evo: visible-phase rates. Arc: server decode rates. Rate definitions differ; do not pool them.</a:t>
            </a:r>
          </a:p>
        </p:txBody>
      </p:sp>
      <p:graphicFrame>
        <p:nvGraphicFramePr>
          <p:cNvPr id="539"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2619375"/>
                <a:gridCol w="2524125"/>
                <a:gridCol w="2257425"/>
                <a:gridCol w="2286000"/>
                <a:gridCol w="1717643"/>
              </a:tblGrid>
              <a:tr h="561798">
                <a:tc>
                  <a:txBody>
                    <a:bodyPr wrap="square" lIns="0" tIns="0" rIns="0" bIns="0">
                      <a:noAutofit/>
                    </a:bodyPr>
                    <a:lstStyle/>
                    <a:p>
                      <a:pPr marL="0" lvl="0" indent="0" algn="l">
                        <a:lnSpc>
                          <a:spcPct val="110000"/>
                        </a:lnSpc>
                        <a:spcBef>
                          <a:spcPts val="0"/>
                        </a:spcBef>
                        <a:spcAft>
                          <a:spcPts val="700"/>
                        </a:spcAft>
                        <a:buNone/>
                      </a:pPr>
                      <a:r>
                        <a:rPr sz="1400" b="1">
                          <a:solidFill>
                            <a:srgbClr val="000000"/>
                          </a:solidFill>
                          <a:latin typeface="Helvetica Neue"/>
                          <a:ea typeface="Helvetica Neue"/>
                          <a:cs typeface="Helvetica Neue"/>
                        </a:rPr>
                        <a:t>System / model</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Rate: tokens/s</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1">
                          <a:solidFill>
                            <a:srgbClr val="000000"/>
                          </a:solidFill>
                          <a:latin typeface="Helvetica Neue"/>
                          <a:ea typeface="Helvetica Neue"/>
                          <a:cs typeface="Helvetica Neue"/>
                        </a:rPr>
                        <a:t>Rate basis</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First visible: seconds</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Total: seconds</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 Qwen35, MTP on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61.65–95.96</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Visible phase range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3.69–18.04 range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140.96</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 Gemma26</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42.54–46.63</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Visible phase range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4.38–17.29 range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192.52</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 GPT-OSS120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44.70–49.19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Visible phase range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9.87–78.50 range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427.84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Arc · Qwen35, MTP off</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68.39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Weighted decode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4.89 median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139.00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Arc · Gemma26</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52.20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Weighted decode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4.08 median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156.11</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Arc · Qwen27</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19.94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Weighted decode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12.71 median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490.35</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 September 2026  |  hardware-benchmarks</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fld id="{EE5B3003-2C54-13C6-9832-7637201064DE}" type="slidenum">
              <a:rPr sz="1000">
                <a:solidFill>
                  <a:srgbClr val="000000"/>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Strong extraction coexists with summary errors</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gn="l">
              <a:lnSpc>
                <a:spcPct val="114000"/>
              </a:lnSpc>
              <a:spcBef>
                <a:spcPts val="0"/>
              </a:spcBef>
              <a:spcAft>
                <a:spcPts val="6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Twenty questions include four true absences. All configurations answered those four correctly.</a:t>
            </a:r>
          </a:p>
          <a:p xmlns:a="http://schemas.openxmlformats.org/drawingml/2006/main">
            <a:pPr algn="l">
              <a:lnSpc>
                <a:spcPct val="114000"/>
              </a:lnSpc>
              <a:spcBef>
                <a:spcPts val="0"/>
              </a:spcBef>
              <a:spcAft>
                <a:spcPts val="6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This secondary content crosswalk uses Evo conventions; stricter Arc completeness scores differ.</a:t>
            </a:r>
          </a:p>
        </p:txBody>
      </p:sp>
      <p:graphicFrame>
        <p:nvGraphicFramePr>
          <p:cNvPr id="539"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2400300"/>
                <a:gridCol w="1457325"/>
                <a:gridCol w="1000125"/>
                <a:gridCol w="2143125"/>
                <a:gridCol w="4403693"/>
              </a:tblGrid>
              <a:tr h="561798">
                <a:tc>
                  <a:txBody>
                    <a:bodyPr wrap="square" lIns="0" tIns="0" rIns="0" bIns="0">
                      <a:noAutofit/>
                    </a:bodyPr>
                    <a:lstStyle/>
                    <a:p>
                      <a:pPr marL="0" lvl="0" indent="0" algn="l">
                        <a:lnSpc>
                          <a:spcPct val="110000"/>
                        </a:lnSpc>
                        <a:spcBef>
                          <a:spcPts val="0"/>
                        </a:spcBef>
                        <a:spcAft>
                          <a:spcPts val="700"/>
                        </a:spcAft>
                        <a:buNone/>
                      </a:pPr>
                      <a:r>
                        <a:rPr sz="1400" b="1">
                          <a:solidFill>
                            <a:srgbClr val="000000"/>
                          </a:solidFill>
                          <a:latin typeface="Helvetica Neue"/>
                          <a:ea typeface="Helvetica Neue"/>
                          <a:cs typeface="Helvetica Neue"/>
                        </a:rPr>
                        <a:t>System / model</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Supported / 20</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1">
                          <a:solidFill>
                            <a:srgbClr val="000000"/>
                          </a:solidFill>
                          <a:latin typeface="Helvetica Neue"/>
                          <a:ea typeface="Helvetica Neue"/>
                          <a:cs typeface="Helvetica Neue"/>
                        </a:rPr>
                        <a:t>Partial</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Other answer issue</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Helvetica Neue"/>
                          <a:ea typeface="Helvetica Neue"/>
                          <a:cs typeface="Helvetica Neue"/>
                        </a:rPr>
                        <a:t>Summary finding</a:t>
                      </a:r>
                      <a:endParaRPr sz="1400" b="1">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 Qwen35</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None in this category</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Wrong reunifier; merge copies summaries</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 Gemma26</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18</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2</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None in this category</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Full-source control omits two passages</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Evo · GPT-OSS120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0</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 false abstention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Kinship, cause and location errors propagate</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Arc · Qwen35</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Duplicated answer ID</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Wrong reunifier; merge omits H4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Arc · Gemma26</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18</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 false-absence claim</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Reunification / cession conflation</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r h="561798">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Arc · Qwen27</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19</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1</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None in this category</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c>
                  <a:txBody>
                    <a:bodyPr wrap="square" lIns="0" tIns="0" rIns="0" bIns="0">
                      <a:noAutofit/>
                    </a:bodyPr>
                    <a:lstStyle/>
                    <a:p>
                      <a:pPr marL="0" lvl="0" indent="0" algn="l">
                        <a:lnSpc>
                          <a:spcPct val="110000"/>
                        </a:lnSpc>
                        <a:spcBef>
                          <a:spcPts val="0"/>
                        </a:spcBef>
                        <a:spcAft>
                          <a:spcPts val="700"/>
                        </a:spcAft>
                        <a:buNone/>
                      </a:pPr>
                      <a:r>
                        <a:rPr sz="1400" b="0">
                          <a:solidFill>
                            <a:srgbClr val="000000"/>
                          </a:solidFill>
                          <a:latin typeface="Helvetica Neue"/>
                          <a:ea typeface="Helvetica Neue"/>
                          <a:cs typeface="Helvetica Neue"/>
                        </a:rPr>
                        <a:t>Wrong seller; full-source omits H4</a:t>
                      </a:r>
                      <a:endParaRPr sz="1400">
                        <a:solidFill>
                          <a:srgbClr val="000000"/>
                        </a:solidFill>
                        <a:latin typeface="+mn-lt"/>
                        <a:ea typeface="+mn-lt"/>
                        <a:cs typeface="+mn-lt"/>
                      </a:endParaRPr>
                    </a:p>
                  </a:txBody>
                  <a:tcPr marL="0" marR="0" marT="91425" marB="91425" anchor="t">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 September 2026  |  hardware-benchmarks</a:t>
            </a:r>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1000">
                <a:solidFill>
                  <a:srgbClr val="000000"/>
                </a:solidFill>
                <a:latin typeface="Helvetica Neue"/>
                <a:ea typeface="Helvetica Neue"/>
                <a:cs typeface="Helvetica Neue"/>
              </a:defRPr>
            </a:pPr>
            <a:fld id="{8C630A04-5A25-9E0C-9436-126091DB86B3}" type="slidenum">
              <a:rPr sz="1000">
                <a:solidFill>
                  <a:srgbClr val="000000"/>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Model choices for historical work</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Performance mode is saved. Paired checks found no meaningful speed gain.</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Medium"/>
                <a:ea typeface="Helvetica Neue Medium"/>
                <a:cs typeface="Helvetica Neue Medium"/>
              </a:defRPr>
            </a:pPr>
            <a:r>
              <a:rPr sz="1600">
                <a:solidFill>
                  <a:srgbClr val="000000"/>
                </a:solidFill>
                <a:latin typeface="Helvetica Neue Medium"/>
                <a:ea typeface="Helvetica Neue Medium"/>
                <a:cs typeface="Helvetica Neue Medium"/>
              </a:rPr>
              <a:t>Daily Evo</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Evo fits GPT-OSS120. This pilot established no general quality advantage.</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Medium"/>
                <a:ea typeface="Helvetica Neue Medium"/>
                <a:cs typeface="Helvetica Neue Medium"/>
              </a:defRPr>
            </a:pPr>
            <a:r>
              <a:rPr sz="1600">
                <a:solidFill>
                  <a:srgbClr val="000000"/>
                </a:solidFill>
                <a:latin typeface="Helvetica Neue Medium"/>
                <a:ea typeface="Helvetica Neue Medium"/>
                <a:cs typeface="Helvetica Neue Medium"/>
              </a:rPr>
              <a:t>Larger models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Check claims, qualifiers, citations and coverage separately from speed.</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Medium"/>
                <a:ea typeface="Helvetica Neue Medium"/>
                <a:cs typeface="Helvetica Neue Medium"/>
              </a:defRPr>
            </a:pPr>
            <a:r>
              <a:rPr sz="1600">
                <a:solidFill>
                  <a:srgbClr val="000000"/>
                </a:solidFill>
                <a:latin typeface="Helvetica Neue Medium"/>
                <a:ea typeface="Helvetica Neue Medium"/>
                <a:cs typeface="Helvetica Neue Medium"/>
              </a:rPr>
              <a:t>Source fidelity</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Published handoff covers capacity, &gt;40 tokens/s and the shared accuracy suite.</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600">
                <a:solidFill>
                  <a:srgbClr val="000000"/>
                </a:solidFill>
                <a:latin typeface="Helvetica Neue Medium"/>
                <a:ea typeface="Helvetica Neue Medium"/>
                <a:cs typeface="Helvetica Neue Medium"/>
              </a:defRPr>
            </a:pPr>
            <a:r>
              <a:rPr sz="1600">
                <a:solidFill>
                  <a:srgbClr val="000000"/>
                </a:solidFill>
                <a:latin typeface="Helvetica Neue Medium"/>
                <a:ea typeface="Helvetica Neue Medium"/>
                <a:cs typeface="Helvetica Neue Medium"/>
              </a:rPr>
              <a:t>Mac replication</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2400">
                <a:latin typeface="Helvetica Neue"/>
                <a:ea typeface="Helvetica Neue"/>
                <a:cs typeface="Helvetica Neue"/>
              </a:rPr>
              <a:t>Start with Qwen35</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It combined useful speed with strong extraction content in this pilot.</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Every configuration still needs source checks for summaries.</a:t>
            </a:r>
          </a:p>
          <a:p xmlns:a="http://schemas.openxmlformats.org/drawingml/2006/main">
            <a:pPr marL="0" indent="0" algn="l">
              <a:spcBef>
                <a:spcPts val="0"/>
              </a:spcBef>
              <a:spcAft>
                <a:spcPts val="12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Mac comparison should preserve frozen prompts and report its own weight hashes.</a:t>
            </a:r>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2026-09-08T13:48:21.9760000Z</dcterms:created>
  <dcterms:modified xsi:type="dcterms:W3CDTF">2026-09-08T13:48:21.9760000Z</dcterms:modified>
</coreProperties>
</file>